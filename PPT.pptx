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DM Sans" panose="020F0502020204030204" pitchFamily="2" charset="0"/>
      <p:regular r:id="rId13"/>
    </p:embeddedFont>
    <p:embeddedFont>
      <p:font typeface="PT Serif" panose="020F0502020204030204" pitchFamily="18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4812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11" Type="http://schemas.openxmlformats.org/officeDocument/2006/relationships/image" Target="../media/image16.svg"/><Relationship Id="rId5" Type="http://schemas.openxmlformats.org/officeDocument/2006/relationships/image" Target="../media/image10.sv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7" Type="http://schemas.openxmlformats.org/officeDocument/2006/relationships/image" Target="../media/image2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jpeg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744365"/>
            <a:ext cx="6296860" cy="24808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Smart Locker Access Control System Using IoT-Based Remote Authentication and Real-Time Monitoring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61475" y="4508698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 intelligent, IoT-enabled approach to secure locker access, remote authentication, and continuous monitoring.</a:t>
            </a:r>
            <a:endParaRPr lang="en-US" sz="145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D51067-5CF9-EEFC-F790-4D405EC796FD}"/>
              </a:ext>
            </a:extLst>
          </p:cNvPr>
          <p:cNvSpPr txBox="1"/>
          <p:nvPr/>
        </p:nvSpPr>
        <p:spPr>
          <a:xfrm>
            <a:off x="0" y="6230331"/>
            <a:ext cx="20714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MOHAMMED RAHIL</a:t>
            </a:r>
            <a:br>
              <a:rPr lang="en-IN" dirty="0"/>
            </a:br>
            <a:r>
              <a:rPr lang="en-IN" dirty="0"/>
              <a:t>323129520088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79041"/>
            <a:ext cx="6296860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Problem Statement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233360" y="1248569"/>
            <a:ext cx="2986310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Challenge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5233360" y="1559917"/>
            <a:ext cx="2986310" cy="72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Secure storage is essential across homes, offices, educational institutions, banks, and commercial facilities. Yet most deployed systems fall short of modern security demands.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233360" y="2389287"/>
            <a:ext cx="2986310" cy="596503"/>
          </a:xfrm>
          <a:prstGeom prst="roundRect">
            <a:avLst>
              <a:gd name="adj" fmla="val 3342"/>
            </a:avLst>
          </a:prstGeom>
          <a:solidFill>
            <a:srgbClr val="FCF2B5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6211" y="2532856"/>
            <a:ext cx="166088" cy="13285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665150" y="2506464"/>
            <a:ext cx="2421671" cy="362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Traditional systems leave critical gaps in both security and visibility.</a:t>
            </a:r>
            <a:endParaRPr lang="en-US" sz="10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50260" y="1260277"/>
            <a:ext cx="2986310" cy="115837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778358" y="1412180"/>
            <a:ext cx="2606312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Physical Key Risks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8778358" y="1723529"/>
            <a:ext cx="2606312" cy="543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Keys can be lost, duplicated, or stolen — creating direct unauthorized access vulnerabilities.</a:t>
            </a:r>
            <a:endParaRPr lang="en-US" sz="10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50260" y="2512020"/>
            <a:ext cx="2986310" cy="115837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778358" y="2663924"/>
            <a:ext cx="2606312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Password Vulnerabilities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8778358" y="2975273"/>
            <a:ext cx="2606312" cy="543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Password-based locks are susceptible to guessing, shoulder surfing, and brute-force attacks.</a:t>
            </a:r>
            <a:endParaRPr lang="en-US" sz="10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50260" y="3763764"/>
            <a:ext cx="2986310" cy="1158379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778358" y="3915668"/>
            <a:ext cx="2606312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Limited Monitoring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8778358" y="4227016"/>
            <a:ext cx="2606312" cy="543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Traditional systems offer no continuous monitoring, access logs, or instant alert capabilities.</a:t>
            </a:r>
            <a:endParaRPr lang="en-US" sz="10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50260" y="5015508"/>
            <a:ext cx="2986310" cy="1158379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8778358" y="5167412"/>
            <a:ext cx="2606312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User Demand</a:t>
            </a:r>
            <a:endParaRPr lang="en-US" sz="1350" dirty="0"/>
          </a:p>
        </p:txBody>
      </p:sp>
      <p:sp>
        <p:nvSpPr>
          <p:cNvPr id="20" name="Text 12"/>
          <p:cNvSpPr/>
          <p:nvPr/>
        </p:nvSpPr>
        <p:spPr>
          <a:xfrm>
            <a:off x="8778358" y="5478760"/>
            <a:ext cx="2606312" cy="543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Users require intelligent systems with secure remote authentication and real-time notifications.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21395"/>
            <a:ext cx="6296860" cy="494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Proposed Solution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661475" y="1195586"/>
            <a:ext cx="6296860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Smart Locker Access Control System leverages IoT to deliver secure remote authentication and real-time locker monitoring through a unified, centralized platform.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661475" y="1763514"/>
            <a:ext cx="6296860" cy="1053306"/>
          </a:xfrm>
          <a:prstGeom prst="roundRect">
            <a:avLst>
              <a:gd name="adj" fmla="val 2145"/>
            </a:avLst>
          </a:prstGeom>
          <a:solidFill>
            <a:srgbClr val="F2EEEE"/>
          </a:solidFill>
          <a:ln/>
        </p:spPr>
      </p:sp>
      <p:sp>
        <p:nvSpPr>
          <p:cNvPr id="6" name="Text 3"/>
          <p:cNvSpPr/>
          <p:nvPr/>
        </p:nvSpPr>
        <p:spPr>
          <a:xfrm>
            <a:off x="812085" y="1914128"/>
            <a:ext cx="5995639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IoT-Enabled Authentication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812085" y="2233216"/>
            <a:ext cx="5995639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Secure remote authentication powered by IoT communication connects users to lockers seamlessly.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61475" y="2936776"/>
            <a:ext cx="6296860" cy="1053306"/>
          </a:xfrm>
          <a:prstGeom prst="roundRect">
            <a:avLst>
              <a:gd name="adj" fmla="val 2145"/>
            </a:avLst>
          </a:prstGeom>
          <a:solidFill>
            <a:srgbClr val="F2EEEE"/>
          </a:solidFill>
          <a:ln/>
        </p:spPr>
      </p:sp>
      <p:sp>
        <p:nvSpPr>
          <p:cNvPr id="9" name="Text 6"/>
          <p:cNvSpPr/>
          <p:nvPr/>
        </p:nvSpPr>
        <p:spPr>
          <a:xfrm>
            <a:off x="812085" y="3087390"/>
            <a:ext cx="5995639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Centralized Platform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812085" y="3406477"/>
            <a:ext cx="5995639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single platform manages locker status, user authentication, and access control in real time.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61475" y="4110038"/>
            <a:ext cx="6296860" cy="1053306"/>
          </a:xfrm>
          <a:prstGeom prst="roundRect">
            <a:avLst>
              <a:gd name="adj" fmla="val 2145"/>
            </a:avLst>
          </a:prstGeom>
          <a:solidFill>
            <a:srgbClr val="F2EEEE"/>
          </a:solidFill>
          <a:ln/>
        </p:spPr>
      </p:sp>
      <p:sp>
        <p:nvSpPr>
          <p:cNvPr id="12" name="Text 9"/>
          <p:cNvSpPr/>
          <p:nvPr/>
        </p:nvSpPr>
        <p:spPr>
          <a:xfrm>
            <a:off x="812085" y="4260652"/>
            <a:ext cx="5995639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User-Friendly Interface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812085" y="4579739"/>
            <a:ext cx="5995639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secure and intuitive interface ensures authorized users can access and manage lockers with ease.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61475" y="5283299"/>
            <a:ext cx="6296860" cy="1053306"/>
          </a:xfrm>
          <a:prstGeom prst="roundRect">
            <a:avLst>
              <a:gd name="adj" fmla="val 2145"/>
            </a:avLst>
          </a:prstGeom>
          <a:solidFill>
            <a:srgbClr val="F2EEEE"/>
          </a:solidFill>
          <a:ln/>
        </p:spPr>
      </p:sp>
      <p:sp>
        <p:nvSpPr>
          <p:cNvPr id="15" name="Text 12"/>
          <p:cNvSpPr/>
          <p:nvPr/>
        </p:nvSpPr>
        <p:spPr>
          <a:xfrm>
            <a:off x="812085" y="5433913"/>
            <a:ext cx="5995639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Continuous Monitoring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812085" y="5753001"/>
            <a:ext cx="5995639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 locker activity is continuously monitored, ensuring visibility and rapid response to events.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2387"/>
            <a:ext cx="10868745" cy="494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Authentication and Access Control</a:t>
            </a:r>
            <a:endParaRPr lang="en-US" sz="3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331516"/>
            <a:ext cx="6936011" cy="39304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71333" y="2415679"/>
            <a:ext cx="3565138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Multi-Modal Authentication Methods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7971333" y="2782788"/>
            <a:ext cx="3565138" cy="1406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system supports one or more of the following authentication approaches, ensuring flexibility and robust security:</a:t>
            </a:r>
            <a:endParaRPr lang="en-US" sz="11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IoT-based communication connects the locker hardware to the centralized platform, ensuring only verified, authorized users are granted access.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661475" y="5531842"/>
            <a:ext cx="338824" cy="338832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7" name="Text 4"/>
          <p:cNvSpPr/>
          <p:nvPr/>
        </p:nvSpPr>
        <p:spPr>
          <a:xfrm>
            <a:off x="1120251" y="5583535"/>
            <a:ext cx="3064096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RFID-Based Authentication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120251" y="5902623"/>
            <a:ext cx="3064096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Users present an RFID card or tag for fast, contactless identity verification.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34362" y="5531842"/>
            <a:ext cx="338824" cy="338832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0" name="Text 7"/>
          <p:cNvSpPr/>
          <p:nvPr/>
        </p:nvSpPr>
        <p:spPr>
          <a:xfrm>
            <a:off x="4793138" y="5583535"/>
            <a:ext cx="3064096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Biometric Authentication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4793138" y="5902623"/>
            <a:ext cx="3064096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Fingerprint or other biometric data provides a high-assurance identity check.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007249" y="5531842"/>
            <a:ext cx="338824" cy="338832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3" name="Text 10"/>
          <p:cNvSpPr/>
          <p:nvPr/>
        </p:nvSpPr>
        <p:spPr>
          <a:xfrm>
            <a:off x="8466025" y="5583535"/>
            <a:ext cx="3064096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Mobile-Based Access Control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8466025" y="5902623"/>
            <a:ext cx="3064096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Smartphone-based credentials allow remote and convenient locker access.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0529"/>
            <a:ext cx="10868745" cy="513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System Components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61475" y="1353344"/>
            <a:ext cx="10868745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These nine components work together to deliver secure locker management through authentication, connectivity, monitoring, user interaction, and security notifications.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956891"/>
            <a:ext cx="313027" cy="3130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2431951"/>
            <a:ext cx="3514836" cy="256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RFID Authentication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61475" y="2766417"/>
            <a:ext cx="3514836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Card or tag-based identity verification at the locker.</a:t>
            </a:r>
            <a:endParaRPr lang="en-US" sz="1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38331" y="1956891"/>
            <a:ext cx="313027" cy="31303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38331" y="2431951"/>
            <a:ext cx="3514935" cy="256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Biometric System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338331" y="2766417"/>
            <a:ext cx="3514935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High-assurance biometric identity confirmation.</a:t>
            </a:r>
            <a:endParaRPr lang="en-US" sz="12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15285" y="1956891"/>
            <a:ext cx="313027" cy="31303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15285" y="2431951"/>
            <a:ext cx="3514935" cy="256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Mobile Access Control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8015285" y="2766417"/>
            <a:ext cx="3514935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Smartphone-based credential management and access.</a:t>
            </a:r>
            <a:endParaRPr lang="en-US" sz="12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483471"/>
            <a:ext cx="313027" cy="31303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61475" y="3958530"/>
            <a:ext cx="3514836" cy="256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IoT Communication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661475" y="4292997"/>
            <a:ext cx="3514836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Modules enabling real-time locker-to-platform connectivity.</a:t>
            </a:r>
            <a:endParaRPr lang="en-US" sz="12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38331" y="3483471"/>
            <a:ext cx="313027" cy="31303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338331" y="3958530"/>
            <a:ext cx="3514935" cy="256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Cloud Connectivity</a:t>
            </a:r>
            <a:endParaRPr lang="en-US" sz="1600" dirty="0"/>
          </a:p>
        </p:txBody>
      </p:sp>
      <p:sp>
        <p:nvSpPr>
          <p:cNvPr id="18" name="Text 11"/>
          <p:cNvSpPr/>
          <p:nvPr/>
        </p:nvSpPr>
        <p:spPr>
          <a:xfrm>
            <a:off x="4338331" y="4292997"/>
            <a:ext cx="3514935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Secure cloud infrastructure for data storage and access.</a:t>
            </a:r>
            <a:endParaRPr lang="en-US" sz="12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15285" y="3483471"/>
            <a:ext cx="313027" cy="313035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015285" y="3958530"/>
            <a:ext cx="3514935" cy="256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Smart Locker Mechanism</a:t>
            </a:r>
            <a:endParaRPr lang="en-US" sz="1600" dirty="0"/>
          </a:p>
        </p:txBody>
      </p:sp>
      <p:sp>
        <p:nvSpPr>
          <p:cNvPr id="21" name="Text 13"/>
          <p:cNvSpPr/>
          <p:nvPr/>
        </p:nvSpPr>
        <p:spPr>
          <a:xfrm>
            <a:off x="8015285" y="4292997"/>
            <a:ext cx="3514935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Electronically controlled access-control hardware.</a:t>
            </a:r>
            <a:endParaRPr lang="en-US" sz="12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1475" y="5010051"/>
            <a:ext cx="313027" cy="313035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661475" y="5485110"/>
            <a:ext cx="3514836" cy="256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Monitoring Platform</a:t>
            </a:r>
            <a:endParaRPr lang="en-US" sz="1600" dirty="0"/>
          </a:p>
        </p:txBody>
      </p:sp>
      <p:sp>
        <p:nvSpPr>
          <p:cNvPr id="24" name="Text 15"/>
          <p:cNvSpPr/>
          <p:nvPr/>
        </p:nvSpPr>
        <p:spPr>
          <a:xfrm>
            <a:off x="661475" y="5819577"/>
            <a:ext cx="3514836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Centralized platform for locker oversight and management.</a:t>
            </a:r>
            <a:endParaRPr lang="en-US" sz="1200" dirty="0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38331" y="5010051"/>
            <a:ext cx="313027" cy="313035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4338331" y="5485110"/>
            <a:ext cx="3514935" cy="256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User Interface</a:t>
            </a:r>
            <a:endParaRPr lang="en-US" sz="1600" dirty="0"/>
          </a:p>
        </p:txBody>
      </p:sp>
      <p:sp>
        <p:nvSpPr>
          <p:cNvPr id="27" name="Text 17"/>
          <p:cNvSpPr/>
          <p:nvPr/>
        </p:nvSpPr>
        <p:spPr>
          <a:xfrm>
            <a:off x="4338331" y="5819577"/>
            <a:ext cx="3514935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Intuitive interface for user interaction and control.</a:t>
            </a:r>
            <a:endParaRPr lang="en-US" sz="1200" dirty="0"/>
          </a:p>
        </p:txBody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015285" y="5010051"/>
            <a:ext cx="313027" cy="313035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8015285" y="5485110"/>
            <a:ext cx="3514935" cy="256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Alert Mechanism</a:t>
            </a:r>
            <a:endParaRPr lang="en-US" sz="1600" dirty="0"/>
          </a:p>
        </p:txBody>
      </p:sp>
      <p:sp>
        <p:nvSpPr>
          <p:cNvPr id="30" name="Text 19"/>
          <p:cNvSpPr/>
          <p:nvPr/>
        </p:nvSpPr>
        <p:spPr>
          <a:xfrm>
            <a:off x="8015285" y="5819577"/>
            <a:ext cx="3514935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Instant security alerts and notification delivery system.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7191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System Working Process</a:t>
            </a:r>
            <a:endParaRPr lang="en-US" sz="3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500" y="1545431"/>
            <a:ext cx="10520595" cy="39479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36045" y="4527310"/>
            <a:ext cx="1586822" cy="320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Grant Access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7336215" y="4206338"/>
            <a:ext cx="1586822" cy="9629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Check Authorization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5347253" y="4366824"/>
            <a:ext cx="1586822" cy="641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Verify Identity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3358291" y="4366824"/>
            <a:ext cx="1586822" cy="641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Collect Credentials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325854" y="4366824"/>
            <a:ext cx="1586822" cy="641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Attempt Access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61475" y="5705971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end-to-end workflow ensures every access attempt is authenticated, logged, and monitored — with instant alerts triggered for any unauthorized or forced-entry event.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9233"/>
            <a:ext cx="10868745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Real-Time Monitoring and Security Alerts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661475" y="3011884"/>
            <a:ext cx="3654135" cy="154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Continuous Visibility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3214092"/>
            <a:ext cx="3654135" cy="340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Real-time monitoring improves security and enables quick response to suspicious activity. The system maintains a comprehensive view of all locker events at all times.</a:t>
            </a:r>
            <a:endParaRPr lang="en-US" sz="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2538" y="963216"/>
            <a:ext cx="6983932" cy="395763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52538" y="4973935"/>
            <a:ext cx="2296460" cy="624284"/>
          </a:xfrm>
          <a:prstGeom prst="roundRect">
            <a:avLst>
              <a:gd name="adj" fmla="val 2271"/>
            </a:avLst>
          </a:prstGeom>
          <a:solidFill>
            <a:srgbClr val="F2EEEE"/>
          </a:solidFill>
          <a:ln/>
        </p:spPr>
      </p:sp>
      <p:sp>
        <p:nvSpPr>
          <p:cNvPr id="7" name="Text 4"/>
          <p:cNvSpPr/>
          <p:nvPr/>
        </p:nvSpPr>
        <p:spPr>
          <a:xfrm>
            <a:off x="4646992" y="5068391"/>
            <a:ext cx="2107552" cy="161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⚠</a:t>
            </a:r>
            <a:r>
              <a:rPr lang="en-US" sz="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Unauthorized Access Detection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646992" y="5276949"/>
            <a:ext cx="2107552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Flags and logs failed or unauthorized authentication attempts immediately.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6896225" y="4973935"/>
            <a:ext cx="2296460" cy="624284"/>
          </a:xfrm>
          <a:prstGeom prst="roundRect">
            <a:avLst>
              <a:gd name="adj" fmla="val 2271"/>
            </a:avLst>
          </a:prstGeom>
          <a:solidFill>
            <a:srgbClr val="F2EEEE"/>
          </a:solidFill>
          <a:ln/>
        </p:spPr>
      </p:sp>
      <p:sp>
        <p:nvSpPr>
          <p:cNvPr id="10" name="Text 7"/>
          <p:cNvSpPr/>
          <p:nvPr/>
        </p:nvSpPr>
        <p:spPr>
          <a:xfrm>
            <a:off x="6990679" y="5068391"/>
            <a:ext cx="2107552" cy="161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🔒</a:t>
            </a:r>
            <a:r>
              <a:rPr lang="en-US" sz="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Forced Entry Detection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990679" y="5276949"/>
            <a:ext cx="2107552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Physical tampering or forced entry triggers an instant security response.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9239912" y="4973935"/>
            <a:ext cx="2296559" cy="624284"/>
          </a:xfrm>
          <a:prstGeom prst="roundRect">
            <a:avLst>
              <a:gd name="adj" fmla="val 2271"/>
            </a:avLst>
          </a:prstGeom>
          <a:solidFill>
            <a:srgbClr val="F2EEEE"/>
          </a:solidFill>
          <a:ln/>
        </p:spPr>
      </p:sp>
      <p:sp>
        <p:nvSpPr>
          <p:cNvPr id="13" name="Text 10"/>
          <p:cNvSpPr/>
          <p:nvPr/>
        </p:nvSpPr>
        <p:spPr>
          <a:xfrm>
            <a:off x="9334366" y="5068391"/>
            <a:ext cx="2107651" cy="161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🔔</a:t>
            </a:r>
            <a:r>
              <a:rPr lang="en-US" sz="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Instant Alerts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9334366" y="5276949"/>
            <a:ext cx="2107651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Security notifications are delivered in real time to administrators and users.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661475" y="5704384"/>
            <a:ext cx="2681717" cy="624384"/>
          </a:xfrm>
          <a:prstGeom prst="roundRect">
            <a:avLst>
              <a:gd name="adj" fmla="val 2270"/>
            </a:avLst>
          </a:prstGeom>
          <a:solidFill>
            <a:srgbClr val="FFFFFF"/>
          </a:solidFill>
          <a:ln w="12700">
            <a:solidFill>
              <a:srgbClr val="D8D4D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68628" y="5811540"/>
            <a:ext cx="2467409" cy="154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Locker Status Monitoring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68628" y="5994797"/>
            <a:ext cx="2467409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Continuous tracking of open, closed, and tampered states.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3390418" y="5704384"/>
            <a:ext cx="2681816" cy="624384"/>
          </a:xfrm>
          <a:prstGeom prst="roundRect">
            <a:avLst>
              <a:gd name="adj" fmla="val 2270"/>
            </a:avLst>
          </a:prstGeom>
          <a:solidFill>
            <a:srgbClr val="FFFFFF"/>
          </a:solidFill>
          <a:ln w="12700">
            <a:solidFill>
              <a:srgbClr val="D8D4D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97572" y="5811540"/>
            <a:ext cx="2467509" cy="154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Access History &amp; Auth Logs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3497572" y="5994797"/>
            <a:ext cx="2467509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Full records of every access event and authentication attempt.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6119461" y="5704384"/>
            <a:ext cx="2681717" cy="624384"/>
          </a:xfrm>
          <a:prstGeom prst="roundRect">
            <a:avLst>
              <a:gd name="adj" fmla="val 2270"/>
            </a:avLst>
          </a:prstGeom>
          <a:solidFill>
            <a:srgbClr val="FFFFFF"/>
          </a:solidFill>
          <a:ln w="12700">
            <a:solidFill>
              <a:srgbClr val="D8D4D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226615" y="5811540"/>
            <a:ext cx="2467409" cy="154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User Activity Monitoring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226615" y="5994797"/>
            <a:ext cx="2467409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Tracks individual user interactions with the locker system.</a:t>
            </a:r>
            <a:endParaRPr lang="en-US" sz="700" dirty="0"/>
          </a:p>
        </p:txBody>
      </p:sp>
      <p:sp>
        <p:nvSpPr>
          <p:cNvPr id="24" name="Shape 21"/>
          <p:cNvSpPr/>
          <p:nvPr/>
        </p:nvSpPr>
        <p:spPr>
          <a:xfrm>
            <a:off x="8848404" y="5704384"/>
            <a:ext cx="2681816" cy="624384"/>
          </a:xfrm>
          <a:prstGeom prst="roundRect">
            <a:avLst>
              <a:gd name="adj" fmla="val 2270"/>
            </a:avLst>
          </a:prstGeom>
          <a:solidFill>
            <a:srgbClr val="FFFFFF"/>
          </a:solidFill>
          <a:ln w="12700">
            <a:solidFill>
              <a:srgbClr val="D8D4D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955558" y="5811540"/>
            <a:ext cx="2467509" cy="154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Remote Monitoring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8955558" y="5994797"/>
            <a:ext cx="2467509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Administrators manage and observe locker activity from anywhere.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2868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Dashboard and Centralized Management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661475" y="1561108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centralized interactive dashboard provides a single platform to monitor and manage all aspects of locker security.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2076152"/>
            <a:ext cx="10868745" cy="4218980"/>
          </a:xfrm>
          <a:prstGeom prst="roundRect">
            <a:avLst>
              <a:gd name="adj" fmla="val 672"/>
            </a:avLst>
          </a:prstGeom>
          <a:solidFill>
            <a:srgbClr val="F2EEEE"/>
          </a:solidFill>
          <a:ln/>
        </p:spPr>
      </p:sp>
      <p:sp>
        <p:nvSpPr>
          <p:cNvPr id="5" name="Shape 3"/>
          <p:cNvSpPr/>
          <p:nvPr/>
        </p:nvSpPr>
        <p:spPr>
          <a:xfrm>
            <a:off x="661475" y="2076152"/>
            <a:ext cx="5434373" cy="1406327"/>
          </a:xfrm>
          <a:custGeom>
            <a:avLst/>
            <a:gdLst/>
            <a:ahLst/>
            <a:cxnLst/>
            <a:rect l="l" t="t" r="r" b="b"/>
            <a:pathLst>
              <a:path w="5434373" h="1406327">
                <a:moveTo>
                  <a:pt x="23627" y="0"/>
                </a:moveTo>
                <a:lnTo>
                  <a:pt x="5434373" y="0"/>
                </a:lnTo>
                <a:lnTo>
                  <a:pt x="5434373" y="1406327"/>
                </a:lnTo>
                <a:lnTo>
                  <a:pt x="0" y="1406327"/>
                </a:lnTo>
                <a:lnTo>
                  <a:pt x="0" y="23628"/>
                </a:lnTo>
                <a:arcTo wR="23627" hR="23628" stAng="10800000" swAng="5400000"/>
                <a:close/>
              </a:path>
            </a:pathLst>
          </a:custGeom>
          <a:solidFill>
            <a:srgbClr val="F2EEEE"/>
          </a:solidFill>
          <a:ln/>
        </p:spPr>
      </p:sp>
      <p:sp>
        <p:nvSpPr>
          <p:cNvPr id="6" name="Text 4"/>
          <p:cNvSpPr/>
          <p:nvPr/>
        </p:nvSpPr>
        <p:spPr>
          <a:xfrm>
            <a:off x="850482" y="2265164"/>
            <a:ext cx="5056359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Locker Status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850482" y="2688630"/>
            <a:ext cx="505635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Live view of every locker's current state across all locations.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095848" y="2076152"/>
            <a:ext cx="5434373" cy="1406327"/>
          </a:xfrm>
          <a:custGeom>
            <a:avLst/>
            <a:gdLst/>
            <a:ahLst/>
            <a:cxnLst/>
            <a:rect l="l" t="t" r="r" b="b"/>
            <a:pathLst>
              <a:path w="5434373" h="1406327">
                <a:moveTo>
                  <a:pt x="0" y="0"/>
                </a:moveTo>
                <a:lnTo>
                  <a:pt x="5410745" y="0"/>
                </a:lnTo>
                <a:arcTo wR="23627" hR="23628" stAng="16200000" swAng="5400000"/>
                <a:lnTo>
                  <a:pt x="5434373" y="1406327"/>
                </a:lnTo>
                <a:lnTo>
                  <a:pt x="0" y="1406327"/>
                </a:lnTo>
                <a:lnTo>
                  <a:pt x="0" y="0"/>
                </a:lnTo>
                <a:close/>
              </a:path>
            </a:pathLst>
          </a:custGeom>
          <a:solidFill>
            <a:srgbClr val="F2EEEE"/>
          </a:solidFill>
          <a:ln/>
        </p:spPr>
      </p:sp>
      <p:sp>
        <p:nvSpPr>
          <p:cNvPr id="9" name="Shape 7"/>
          <p:cNvSpPr/>
          <p:nvPr/>
        </p:nvSpPr>
        <p:spPr>
          <a:xfrm>
            <a:off x="6095848" y="2076152"/>
            <a:ext cx="25399" cy="1406327"/>
          </a:xfrm>
          <a:prstGeom prst="roundRect">
            <a:avLst>
              <a:gd name="adj" fmla="val 50001"/>
            </a:avLst>
          </a:prstGeom>
          <a:solidFill>
            <a:srgbClr val="D8D4D4"/>
          </a:solidFill>
          <a:ln/>
        </p:spPr>
      </p:sp>
      <p:sp>
        <p:nvSpPr>
          <p:cNvPr id="10" name="Text 8"/>
          <p:cNvSpPr/>
          <p:nvPr/>
        </p:nvSpPr>
        <p:spPr>
          <a:xfrm>
            <a:off x="6284854" y="2265164"/>
            <a:ext cx="5056359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Access History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6284854" y="2688630"/>
            <a:ext cx="505635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Complete chronological log of all locker access events.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61475" y="3482479"/>
            <a:ext cx="5434373" cy="1406327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3" name="Shape 11"/>
          <p:cNvSpPr/>
          <p:nvPr/>
        </p:nvSpPr>
        <p:spPr>
          <a:xfrm>
            <a:off x="661475" y="3482479"/>
            <a:ext cx="5434373" cy="2540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14" name="Text 12"/>
          <p:cNvSpPr/>
          <p:nvPr/>
        </p:nvSpPr>
        <p:spPr>
          <a:xfrm>
            <a:off x="850482" y="3671491"/>
            <a:ext cx="5056359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Authentication Logs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850482" y="4094956"/>
            <a:ext cx="505635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Detailed records of all authentication attempts and outcomes.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095848" y="3482479"/>
            <a:ext cx="5434373" cy="1406327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7" name="Shape 15"/>
          <p:cNvSpPr/>
          <p:nvPr/>
        </p:nvSpPr>
        <p:spPr>
          <a:xfrm>
            <a:off x="6095848" y="3482479"/>
            <a:ext cx="25399" cy="1406327"/>
          </a:xfrm>
          <a:prstGeom prst="roundRect">
            <a:avLst>
              <a:gd name="adj" fmla="val 50001"/>
            </a:avLst>
          </a:prstGeom>
          <a:solidFill>
            <a:srgbClr val="D8D4D4"/>
          </a:solidFill>
          <a:ln/>
        </p:spPr>
      </p:sp>
      <p:sp>
        <p:nvSpPr>
          <p:cNvPr id="18" name="Shape 16"/>
          <p:cNvSpPr/>
          <p:nvPr/>
        </p:nvSpPr>
        <p:spPr>
          <a:xfrm>
            <a:off x="6095848" y="3482479"/>
            <a:ext cx="5434373" cy="2540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19" name="Text 17"/>
          <p:cNvSpPr/>
          <p:nvPr/>
        </p:nvSpPr>
        <p:spPr>
          <a:xfrm>
            <a:off x="6284854" y="3671491"/>
            <a:ext cx="5056359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User Activity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6284854" y="4094956"/>
            <a:ext cx="505635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Per-user interaction tracking for accountability and auditing.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61475" y="4888805"/>
            <a:ext cx="5434373" cy="1406327"/>
          </a:xfrm>
          <a:custGeom>
            <a:avLst/>
            <a:gdLst/>
            <a:ahLst/>
            <a:cxnLst/>
            <a:rect l="l" t="t" r="r" b="b"/>
            <a:pathLst>
              <a:path w="5434373" h="1406327">
                <a:moveTo>
                  <a:pt x="0" y="0"/>
                </a:moveTo>
                <a:lnTo>
                  <a:pt x="5434373" y="0"/>
                </a:lnTo>
                <a:lnTo>
                  <a:pt x="5434373" y="1406327"/>
                </a:lnTo>
                <a:lnTo>
                  <a:pt x="23627" y="1406327"/>
                </a:lnTo>
                <a:arcTo wR="23627" hR="23628" stAng="5400000" swAng="5400000"/>
                <a:lnTo>
                  <a:pt x="0" y="0"/>
                </a:lnTo>
                <a:close/>
              </a:path>
            </a:pathLst>
          </a:custGeom>
          <a:solidFill>
            <a:srgbClr val="F2EEEE"/>
          </a:solidFill>
          <a:ln/>
        </p:spPr>
      </p:sp>
      <p:sp>
        <p:nvSpPr>
          <p:cNvPr id="22" name="Shape 20"/>
          <p:cNvSpPr/>
          <p:nvPr/>
        </p:nvSpPr>
        <p:spPr>
          <a:xfrm>
            <a:off x="661475" y="4888805"/>
            <a:ext cx="5434373" cy="2540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23" name="Text 21"/>
          <p:cNvSpPr/>
          <p:nvPr/>
        </p:nvSpPr>
        <p:spPr>
          <a:xfrm>
            <a:off x="850482" y="5077817"/>
            <a:ext cx="5056359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Security Alerts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850482" y="5501283"/>
            <a:ext cx="505635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Centralized view of all triggered alerts and incident history.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095848" y="4888805"/>
            <a:ext cx="5434373" cy="1406327"/>
          </a:xfrm>
          <a:custGeom>
            <a:avLst/>
            <a:gdLst/>
            <a:ahLst/>
            <a:cxnLst/>
            <a:rect l="l" t="t" r="r" b="b"/>
            <a:pathLst>
              <a:path w="5434373" h="1406327">
                <a:moveTo>
                  <a:pt x="0" y="0"/>
                </a:moveTo>
                <a:lnTo>
                  <a:pt x="5434373" y="0"/>
                </a:lnTo>
                <a:lnTo>
                  <a:pt x="5434373" y="1382699"/>
                </a:lnTo>
                <a:arcTo wR="23627" hR="23628" stAng="0" swAng="5400000"/>
                <a:lnTo>
                  <a:pt x="0" y="1406327"/>
                </a:lnTo>
                <a:lnTo>
                  <a:pt x="0" y="0"/>
                </a:lnTo>
                <a:close/>
              </a:path>
            </a:pathLst>
          </a:custGeom>
          <a:solidFill>
            <a:srgbClr val="F2EEEE"/>
          </a:solidFill>
          <a:ln/>
        </p:spPr>
      </p:sp>
      <p:sp>
        <p:nvSpPr>
          <p:cNvPr id="26" name="Shape 24"/>
          <p:cNvSpPr/>
          <p:nvPr/>
        </p:nvSpPr>
        <p:spPr>
          <a:xfrm>
            <a:off x="6095848" y="4888805"/>
            <a:ext cx="25399" cy="1406327"/>
          </a:xfrm>
          <a:prstGeom prst="roundRect">
            <a:avLst>
              <a:gd name="adj" fmla="val 50001"/>
            </a:avLst>
          </a:prstGeom>
          <a:solidFill>
            <a:srgbClr val="D8D4D4"/>
          </a:solidFill>
          <a:ln/>
        </p:spPr>
      </p:sp>
      <p:sp>
        <p:nvSpPr>
          <p:cNvPr id="27" name="Shape 25"/>
          <p:cNvSpPr/>
          <p:nvPr/>
        </p:nvSpPr>
        <p:spPr>
          <a:xfrm>
            <a:off x="6095848" y="4888805"/>
            <a:ext cx="5434373" cy="2540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28" name="Text 26"/>
          <p:cNvSpPr/>
          <p:nvPr/>
        </p:nvSpPr>
        <p:spPr>
          <a:xfrm>
            <a:off x="6284854" y="5077817"/>
            <a:ext cx="5056359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Auth Management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6284854" y="5501283"/>
            <a:ext cx="505635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Add, modify, or revoke user credentials and access rights remotely.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4930"/>
            <a:ext cx="10868745" cy="5038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Benefits and Applications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61475" y="1426170"/>
            <a:ext cx="3560475" cy="252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Key Benefits</a:t>
            </a:r>
            <a:endParaRPr lang="en-US" sz="1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9020" y="1823244"/>
            <a:ext cx="230281" cy="2302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60433" y="1818481"/>
            <a:ext cx="3061516" cy="252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Improved Access Control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1160433" y="2195215"/>
            <a:ext cx="3061516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Multi-modal authentication ensures only verified users gain entry.</a:t>
            </a:r>
            <a:endParaRPr lang="en-US" sz="1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9020" y="2894806"/>
            <a:ext cx="230281" cy="23028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60433" y="2890044"/>
            <a:ext cx="3061516" cy="252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Enhanced Asset Protection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1160433" y="3266777"/>
            <a:ext cx="3061516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Continuous monitoring and instant alerts safeguard stored assets.</a:t>
            </a:r>
            <a:endParaRPr lang="en-US" sz="12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9020" y="3966369"/>
            <a:ext cx="230281" cy="23028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60433" y="3961606"/>
            <a:ext cx="3061516" cy="504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Reduced Unauthorized Access Risk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1160433" y="4590355"/>
            <a:ext cx="3061516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IoT-based authentication eliminates key and password vulnerabilities.</a:t>
            </a:r>
            <a:endParaRPr lang="en-US" sz="12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9020" y="5289947"/>
            <a:ext cx="230281" cy="23028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60433" y="5285184"/>
            <a:ext cx="3061516" cy="252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Remote Monitoring &amp; Scalability</a:t>
            </a:r>
            <a:endParaRPr lang="en-US" sz="1550" dirty="0"/>
          </a:p>
        </p:txBody>
      </p:sp>
      <p:sp>
        <p:nvSpPr>
          <p:cNvPr id="15" name="Text 9"/>
          <p:cNvSpPr/>
          <p:nvPr/>
        </p:nvSpPr>
        <p:spPr>
          <a:xfrm>
            <a:off x="1160433" y="5661918"/>
            <a:ext cx="3061516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Manage and scale locker security from a single centralized platform.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4602940" y="1370608"/>
            <a:ext cx="6933530" cy="252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Application Domains</a:t>
            </a:r>
            <a:endParaRPr lang="en-US" sz="15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2940" y="1762919"/>
            <a:ext cx="971129" cy="971153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602940" y="2890044"/>
            <a:ext cx="2207165" cy="252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Banks</a:t>
            </a:r>
            <a:endParaRPr lang="en-US" sz="1550" dirty="0"/>
          </a:p>
        </p:txBody>
      </p:sp>
      <p:sp>
        <p:nvSpPr>
          <p:cNvPr id="19" name="Text 12"/>
          <p:cNvSpPr/>
          <p:nvPr/>
        </p:nvSpPr>
        <p:spPr>
          <a:xfrm>
            <a:off x="4602940" y="3266777"/>
            <a:ext cx="2207165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High-security safe deposit and document storage.</a:t>
            </a:r>
            <a:endParaRPr lang="en-US" sz="12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6073" y="1762919"/>
            <a:ext cx="971129" cy="971153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966073" y="2890044"/>
            <a:ext cx="2207165" cy="252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Educational Institutions</a:t>
            </a:r>
            <a:endParaRPr lang="en-US" sz="1550" dirty="0"/>
          </a:p>
        </p:txBody>
      </p:sp>
      <p:sp>
        <p:nvSpPr>
          <p:cNvPr id="22" name="Text 14"/>
          <p:cNvSpPr/>
          <p:nvPr/>
        </p:nvSpPr>
        <p:spPr>
          <a:xfrm>
            <a:off x="6966073" y="3266777"/>
            <a:ext cx="2207165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Student and staff locker management at scale.</a:t>
            </a:r>
            <a:endParaRPr lang="en-US" sz="120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9206" y="1762919"/>
            <a:ext cx="971129" cy="971153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9329206" y="2890044"/>
            <a:ext cx="2207165" cy="252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Offices &amp; Hotels</a:t>
            </a:r>
            <a:endParaRPr lang="en-US" sz="1550" dirty="0"/>
          </a:p>
        </p:txBody>
      </p:sp>
      <p:sp>
        <p:nvSpPr>
          <p:cNvPr id="25" name="Text 16"/>
          <p:cNvSpPr/>
          <p:nvPr/>
        </p:nvSpPr>
        <p:spPr>
          <a:xfrm>
            <a:off x="9329206" y="3266777"/>
            <a:ext cx="2207165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Employee and guest secure storage solutions.</a:t>
            </a:r>
            <a:endParaRPr lang="en-US" sz="1200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2940" y="3961606"/>
            <a:ext cx="971129" cy="971153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4602940" y="5088731"/>
            <a:ext cx="2207165" cy="504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Warehouses &amp; Residential</a:t>
            </a:r>
            <a:endParaRPr lang="en-US" sz="1550" dirty="0"/>
          </a:p>
        </p:txBody>
      </p:sp>
      <p:sp>
        <p:nvSpPr>
          <p:cNvPr id="28" name="Text 18"/>
          <p:cNvSpPr/>
          <p:nvPr/>
        </p:nvSpPr>
        <p:spPr>
          <a:xfrm>
            <a:off x="4602940" y="5717480"/>
            <a:ext cx="2207165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Asset protection in industrial and home environments.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21395"/>
            <a:ext cx="6296860" cy="494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Conclusion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661475" y="1195586"/>
            <a:ext cx="6296860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Smart Locker Access Control System represents a modern, intelligent approach to IoT-based locker security — directly addressing the limitations of traditional systems.</a:t>
            </a:r>
            <a:endParaRPr lang="en-US" sz="11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1763514"/>
            <a:ext cx="6296860" cy="105330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2085" y="1914128"/>
            <a:ext cx="5995639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Integrated Architecture</a:t>
            </a:r>
            <a:endParaRPr lang="en-US" sz="1550" dirty="0"/>
          </a:p>
        </p:txBody>
      </p:sp>
      <p:sp>
        <p:nvSpPr>
          <p:cNvPr id="7" name="Text 3"/>
          <p:cNvSpPr/>
          <p:nvPr/>
        </p:nvSpPr>
        <p:spPr>
          <a:xfrm>
            <a:off x="812085" y="2233216"/>
            <a:ext cx="5995639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Combines secure authentication, IoT communication, cloud connectivity, and real-time monitoring in a unified system.</a:t>
            </a:r>
            <a:endParaRPr lang="en-US" sz="11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936776"/>
            <a:ext cx="6296860" cy="105330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12085" y="3087390"/>
            <a:ext cx="5995639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Overcomes Traditional Limitations</a:t>
            </a:r>
            <a:endParaRPr lang="en-US" sz="1550" dirty="0"/>
          </a:p>
        </p:txBody>
      </p:sp>
      <p:sp>
        <p:nvSpPr>
          <p:cNvPr id="10" name="Text 5"/>
          <p:cNvSpPr/>
          <p:nvPr/>
        </p:nvSpPr>
        <p:spPr>
          <a:xfrm>
            <a:off x="812085" y="3406477"/>
            <a:ext cx="5995639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Eliminates the vulnerabilities of physical keys and password-based locks with multi-modal, verified authentication.</a:t>
            </a:r>
            <a:endParaRPr lang="en-US" sz="11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110038"/>
            <a:ext cx="6296860" cy="105330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12085" y="4260652"/>
            <a:ext cx="5995639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Comprehensive Security</a:t>
            </a:r>
            <a:endParaRPr lang="en-US" sz="1550" dirty="0"/>
          </a:p>
        </p:txBody>
      </p:sp>
      <p:sp>
        <p:nvSpPr>
          <p:cNvPr id="13" name="Text 7"/>
          <p:cNvSpPr/>
          <p:nvPr/>
        </p:nvSpPr>
        <p:spPr>
          <a:xfrm>
            <a:off x="812085" y="4579739"/>
            <a:ext cx="5995639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Improves access control, asset protection, remote monitoring, and incident response across all deployment environments.</a:t>
            </a:r>
            <a:endParaRPr lang="en-US" sz="11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5283299"/>
            <a:ext cx="6296860" cy="105330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12085" y="5433913"/>
            <a:ext cx="5995639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Intelligent &amp; Scalable</a:t>
            </a:r>
            <a:endParaRPr lang="en-US" sz="1550" dirty="0"/>
          </a:p>
        </p:txBody>
      </p:sp>
      <p:sp>
        <p:nvSpPr>
          <p:cNvPr id="16" name="Text 9"/>
          <p:cNvSpPr/>
          <p:nvPr/>
        </p:nvSpPr>
        <p:spPr>
          <a:xfrm>
            <a:off x="812085" y="5753001"/>
            <a:ext cx="5995639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forward-looking platform that scales to meet the security demands of diverse institutions and facilities.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907</Words>
  <Application>Microsoft Office PowerPoint</Application>
  <PresentationFormat>Widescreen</PresentationFormat>
  <Paragraphs>132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DM Sans</vt:lpstr>
      <vt:lpstr>Arial</vt:lpstr>
      <vt:lpstr>PT 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LOKESH VARMA</cp:lastModifiedBy>
  <cp:revision>2</cp:revision>
  <dcterms:created xsi:type="dcterms:W3CDTF">2026-08-19T06:22:58Z</dcterms:created>
  <dcterms:modified xsi:type="dcterms:W3CDTF">2026-10-04T18:24:55Z</dcterms:modified>
</cp:coreProperties>
</file>